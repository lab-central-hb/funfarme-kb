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Tarefas concluídas</c:v>
                </c:pt>
              </c:strCache>
            </c:strRef>
          </c:tx>
          <c:dPt>
            <c:idx val="0"/>
            <c:spPr>
              <a:solidFill>
                <a:srgbClr val="00897B"/>
              </a:solidFill>
            </c:spPr>
          </c:dPt>
          <c:dPt>
            <c:idx val="1"/>
            <c:spPr>
              <a:solidFill>
                <a:srgbClr val="00ACC1"/>
              </a:solidFill>
            </c:spPr>
          </c:dPt>
          <c:dPt>
            <c:idx val="2"/>
            <c:spPr>
              <a:solidFill>
                <a:srgbClr val="546E7A"/>
              </a:solidFill>
            </c:spPr>
          </c:dPt>
          <c:dPt>
            <c:idx val="3"/>
            <c:spPr>
              <a:solidFill>
                <a:srgbClr val="5C6BC0"/>
              </a:solidFill>
            </c:spPr>
          </c:dPt>
          <c:dPt>
            <c:idx val="4"/>
            <c:spPr>
              <a:solidFill>
                <a:srgbClr val="FFA000"/>
              </a:solidFill>
            </c:spPr>
          </c:dPt>
          <c:dPt>
            <c:idx val="5"/>
            <c:spPr>
              <a:solidFill>
                <a:srgbClr val="8D6E63"/>
              </a:solidFill>
            </c:spPr>
          </c:dPt>
          <c:cat>
            <c:strRef>
              <c:f>Sheet1!$A$2:$A$7</c:f>
              <c:strCache>
                <c:ptCount val="6"/>
                <c:pt idx="0">
                  <c:v>Shift LIS</c:v>
                </c:pt>
                <c:pt idx="1">
                  <c:v>Shift Integração</c:v>
                </c:pt>
                <c:pt idx="2">
                  <c:v>Rede/Servidores</c:v>
                </c:pt>
                <c:pt idx="3">
                  <c:v>Shift Automação</c:v>
                </c:pt>
                <c:pt idx="4">
                  <c:v>Municípios</c:v>
                </c:pt>
                <c:pt idx="5">
                  <c:v>Shift Cadastro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8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>
                  <a:solidFill>
                    <a:srgbClr val="212121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21212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nfar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74320"/>
            <a:ext cx="1005840" cy="1005840"/>
          </a:xfrm>
          <a:prstGeom prst="rect">
            <a:avLst/>
          </a:prstGeom>
        </p:spPr>
      </p:pic>
      <p:pic>
        <p:nvPicPr>
          <p:cNvPr id="5" name="Picture 4" descr="hospital-de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320040"/>
            <a:ext cx="141155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9144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RELATÓRIO MENSAL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0F2F1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F2F1"/>
                </a:solidFill>
                <a:latin typeface="Calibri"/>
              </a:defRPr>
            </a:pPr>
            <a:r>
              <a:t>TI Laboratório Central — FUNFARME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Tarefas concluídas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897B"/>
                </a:solidFill>
                <a:latin typeface="Calibri"/>
              </a:defRPr>
            </a:pPr>
            <a:r>
              <a:rPr b="1">
                <a:solidFill>
                  <a:srgbClr val="00897B"/>
                </a:solidFill>
              </a:rPr>
              <a:t>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Pendentes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12121"/>
                </a:solidFill>
                <a:latin typeface="Calibri"/>
              </a:defRPr>
            </a:pPr>
            <a:r>
              <a:rPr b="1">
                <a:solidFill>
                  <a:srgbClr val="F9A825"/>
                </a:solidFill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12121"/>
                </a:solidFill>
                <a:latin typeface="Calibri"/>
              </a:defRPr>
            </a:pPr>
            <a:r>
              <a:rPr b="1">
                <a:solidFill>
                  <a:srgbClr val="C62828"/>
                </a:solidFill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FUNFARME — Fundação Faculdade Regional de Medicina · São José do Rio Preto —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Resumo por Categoria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07440"/>
            <a:ext cx="100584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757575"/>
                </a:solidFill>
                <a:latin typeface="Arial"/>
              </a:rPr>
              <a:t>Total: 37 tarefas concluídas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463040"/>
          <a:ext cx="1005840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LIS (22)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0749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SDHEA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01/06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ANFETUR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01/06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PQUINASE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03/06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OSMOUR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09/06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EBETV1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09/06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BCRT315I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12/06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DEMPARK — Fleury / inativo MV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12/06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LIPODIS — Fleury / inativo MV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12/06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CBFB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M1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VIT125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17/06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63040"/>
            <a:ext cx="50749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C3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17/06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PEPI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17/06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COQ10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17/06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DOEIMU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18/06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RECALCRE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IGE I5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MECP2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IMUNOF24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PB19PCR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Metil. Russell P.G. — painel genético Pardini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00897B"/>
              </a:buClr>
              <a:buSzPct val="65000"/>
              <a:buFont typeface="Arial"/>
              <a:buChar char="●"/>
            </a:pPr>
            <a:r>
              <a:rPr sz="1400" b="0" i="0">
                <a:solidFill>
                  <a:srgbClr val="212121"/>
                </a:solidFill>
                <a:latin typeface="Arial"/>
              </a:rPr>
              <a:t>Máscara C216 — novo procedimento</a:t>
            </a:r>
            <a:r>
              <a:rPr sz="1200" b="0" i="1">
                <a:solidFill>
                  <a:srgbClr val="757575"/>
                </a:solidFill>
                <a:latin typeface="Arial"/>
              </a:rPr>
              <a:t>   25/06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A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Integração (8)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antimicrobiano — Isoniazida (código Shift 635 → código MV 231)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29/06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Criação da unidade de coleta "AMB CENTRO DE TRATAMENTO LABIOPALATAL" e de/para de integração (código Shift 423 → código MV 1230)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29/06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antibiograma — Imipenem (código Shift IPM4 → código MV 215)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antibiograma — antimicrobiano IMR (código Shift IMR → código MV 551)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resultado de log Hepatite C — "0.0" → "-"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SDHEA — rota reconfigurada de Apoio (provisório) para rota interna após chegada de novos kits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antibiograma — Rifabutina (Shift RFB → MV 268)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00ACC1"/>
              </a:buClr>
              <a:buSzPct val="65000"/>
              <a:buFont typeface="Arial"/>
              <a:buChar char="●"/>
            </a:pPr>
            <a:r>
              <a:rPr sz="1600" b="0" i="0">
                <a:solidFill>
                  <a:srgbClr val="212121"/>
                </a:solidFill>
                <a:latin typeface="Arial"/>
              </a:rPr>
              <a:t>De/para antibiograma — Isoniazida (Shift IZ → MV 231)</a:t>
            </a:r>
            <a:r>
              <a:rPr sz="1400" b="0" i="1">
                <a:solidFill>
                  <a:srgbClr val="757575"/>
                </a:solidFill>
                <a:latin typeface="Arial"/>
              </a:rPr>
              <a:t>   30/06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Rede/Servidores (2)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546E7A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0" i="0">
                <a:solidFill>
                  <a:srgbClr val="212121"/>
                </a:solidFill>
                <a:latin typeface="Arial"/>
              </a:rPr>
              <a:t>Avaliar alternativa de acesso remoto para Shift ao SRV-AUTOMA — equipe de redes avaliará riscos; acesso remoto permanece bloqueado por enquanto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25/06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546E7A"/>
              </a:buClr>
              <a:buSzPct val="65000"/>
              <a:buFont typeface="Arial"/>
              <a:buChar char="●"/>
            </a:pPr>
            <a:r>
              <a:rPr sz="1800" b="0" i="0">
                <a:solidFill>
                  <a:srgbClr val="212121"/>
                </a:solidFill>
                <a:latin typeface="Arial"/>
              </a:rPr>
              <a:t>Cofre KeePass criado e senhas de docs/credenciais.md armazenadas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29/06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Automação (2)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5C6BC0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0" i="0">
                <a:solidFill>
                  <a:srgbClr val="212121"/>
                </a:solidFill>
                <a:latin typeface="Arial"/>
              </a:rPr>
              <a:t>ABL-800 — interface do gasômetro do HCM configurada para incorporar resultados de hemoglobinas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18/06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5C6BC0"/>
              </a:buClr>
              <a:buSzPct val="65000"/>
              <a:buFont typeface="Arial"/>
              <a:buChar char="●"/>
            </a:pPr>
            <a:r>
              <a:rPr sz="1800" b="0" i="0">
                <a:solidFill>
                  <a:srgbClr val="212121"/>
                </a:solidFill>
                <a:latin typeface="Arial"/>
              </a:rPr>
              <a:t>CMV PCR (biomol) — tradução automática de resultado negativo: "-" → "Negativo", eliminando necessidade de correção manual pelos colaboradores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29/06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Municípios (2)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FFA000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0" i="0">
                <a:solidFill>
                  <a:srgbClr val="212121"/>
                </a:solidFill>
                <a:latin typeface="Arial"/>
              </a:rPr>
              <a:t>Votuporanga — instalar sistema Shift na cidade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01/06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FFA000"/>
              </a:buClr>
              <a:buSzPct val="65000"/>
              <a:buFont typeface="Arial"/>
              <a:buChar char="●"/>
            </a:pPr>
            <a:r>
              <a:rPr sz="1800" b="0" i="0">
                <a:solidFill>
                  <a:srgbClr val="212121"/>
                </a:solidFill>
                <a:latin typeface="Arial"/>
              </a:rPr>
              <a:t>Capacitar técnicos de TI dos municípios para suporte autônomo — grupo informado sobre como prosseguir perante ao bloqueio de acessos remotos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25/06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8D6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Cadastro (1)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8D6E63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0" i="0">
                <a:solidFill>
                  <a:srgbClr val="212121"/>
                </a:solidFill>
                <a:latin typeface="Arial"/>
              </a:rPr>
              <a:t>Exame e máscara criados — RECEPTRA (Shift 2371 → MV 2491), campo formatado; req. Ana Paula Galdiano — Kauã</a:t>
            </a:r>
            <a:r>
              <a:rPr sz="1600" b="0" i="1">
                <a:solidFill>
                  <a:srgbClr val="757575"/>
                </a:solidFill>
                <a:latin typeface="Arial"/>
              </a:rPr>
              <a:t>   29/06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Pendências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5C6BC0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1" i="0">
                <a:solidFill>
                  <a:srgbClr val="5C6BC0"/>
                </a:solidFill>
                <a:latin typeface="Arial"/>
              </a:rPr>
              <a:t>[Shift Automação]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MAX ION 800 — equipamento recebido; testes de controle e treinamento com equipe da bioquímica concluídos; aguardando assinatura de protocolo/pagamento pela Shift para prosseguir com interfaceamento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Incidentes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1200"/>
              </a:spcAft>
              <a:buClr>
                <a:srgbClr val="C62828"/>
              </a:buClr>
              <a:buSzPct val="65000"/>
              <a:buFont typeface="Arial"/>
              <a:buChar char="●"/>
              <a:defRPr sz="1400" b="0">
                <a:solidFill>
                  <a:srgbClr val="212121"/>
                </a:solidFill>
                <a:latin typeface="Calibri"/>
              </a:defRPr>
            </a:pPr>
            <a:r>
              <a:rPr sz="1800" b="1" i="0">
                <a:solidFill>
                  <a:srgbClr val="C62828"/>
                </a:solidFill>
                <a:latin typeface="Arial"/>
              </a:rPr>
              <a:t>2026-06-16 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I1 — Bloqueio de ferramentas de acesso remoto externo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C62828"/>
              </a:buClr>
              <a:buSzPct val="65000"/>
              <a:buFont typeface="Arial"/>
              <a:buChar char="●"/>
            </a:pPr>
            <a:r>
              <a:rPr sz="1800" b="1" i="0">
                <a:solidFill>
                  <a:srgbClr val="C62828"/>
                </a:solidFill>
                <a:latin typeface="Arial"/>
              </a:rPr>
              <a:t>2026-06-25 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I2 — Divergência de user-id entre Shift e MV — Caroline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C62828"/>
              </a:buClr>
              <a:buSzPct val="65000"/>
              <a:buFont typeface="Arial"/>
              <a:buChar char="●"/>
            </a:pPr>
            <a:r>
              <a:rPr sz="1800" b="1" i="0">
                <a:solidFill>
                  <a:srgbClr val="C62828"/>
                </a:solidFill>
                <a:latin typeface="Arial"/>
              </a:rPr>
              <a:t>2026-06-25 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I3 — Imagens Cobas 6500 II não consumidas — 15/05/2026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C62828"/>
              </a:buClr>
              <a:buSzPct val="65000"/>
              <a:buFont typeface="Arial"/>
              <a:buChar char="●"/>
            </a:pPr>
            <a:r>
              <a:rPr sz="1800" b="1" i="0">
                <a:solidFill>
                  <a:srgbClr val="C62828"/>
                </a:solidFill>
                <a:latin typeface="Arial"/>
              </a:rPr>
              <a:t>2026-06-25 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I4 — Queda geral do Shift LIS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Clr>
                <a:srgbClr val="C62828"/>
              </a:buClr>
              <a:buSzPct val="65000"/>
              <a:buFont typeface="Arial"/>
              <a:buChar char="●"/>
            </a:pPr>
            <a:r>
              <a:rPr sz="1800" b="1" i="0">
                <a:solidFill>
                  <a:srgbClr val="C62828"/>
                </a:solidFill>
                <a:latin typeface="Arial"/>
              </a:rPr>
              <a:t>2026-06-30  </a:t>
            </a:r>
            <a:r>
              <a:rPr sz="1800" b="0" i="0">
                <a:solidFill>
                  <a:srgbClr val="212121"/>
                </a:solidFill>
                <a:latin typeface="Arial"/>
              </a:rPr>
              <a:t>I5 — Erros de exportação por falta de de/para de antibiogramas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