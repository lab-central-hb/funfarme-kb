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6676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B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023360"/>
            <a:ext cx="9144000" cy="14630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3749040" y="411480"/>
            <a:ext cx="1645920" cy="566928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749040" y="41148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SHIFT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Relatório Mensal de </a:t>
            </a:r>
            <a:r>
              <a:rPr lang="en-US" sz="36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Tarefas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0299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 / 2026  ·  Relatório Completo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Pulse Pela Vida  |  FUNFARME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1737360" cy="384048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0" y="3017520"/>
            <a:ext cx="1737360" cy="384048"/>
          </a:xfrm>
          <a:prstGeom prst="rect">
            <a:avLst/>
          </a:prstGeom>
          <a:solidFill>
            <a:srgbClr val="2D9E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743200" y="30175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017520"/>
            <a:ext cx="1737360" cy="384048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663440" y="30175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3017520"/>
            <a:ext cx="1737360" cy="384048"/>
          </a:xfrm>
          <a:prstGeom prst="rect">
            <a:avLst/>
          </a:prstGeom>
          <a:solidFill>
            <a:srgbClr val="7B2D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583680" y="30175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0" y="425196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Emitido em: 27/05/2026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3B6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25603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B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Sumário Executivo — Maio 2026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95528"/>
            <a:ext cx="850392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03920" cy="8686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194560" cy="86868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47472" y="987552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Shift LIS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06040" y="100584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máscaras criadas. Rotas de amostras reconfiguradas — carga equilibrada entre Cobas PRO I e II. Parâmetro 'Outros' configurado para urinálise (Trichomonas).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8503920" cy="8686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74320" y="1874520"/>
            <a:ext cx="2194560" cy="868680"/>
          </a:xfrm>
          <a:prstGeom prst="rect">
            <a:avLst/>
          </a:prstGeom>
          <a:solidFill>
            <a:srgbClr val="2D9E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47472" y="1947672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Municípios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06040" y="196596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municípios atendidos: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Ubarana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Bálsamo, Paulo de Faria, Mendonça, Adolfo e Mirassol — instalações de Shift, SoulMV e VPN concluídas.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834640"/>
            <a:ext cx="8503920" cy="8686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2194560" cy="86868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47472" y="2907792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Redes / Servidores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06040" y="292608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criados (SRV-SHIFTAUTOMA e SRV-TS). Política de grupo reduziu uso do servidor de 82% → 48%. Novo SRV-TS02 em nuvem entregue.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794760"/>
            <a:ext cx="8503920" cy="8686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274320" y="3794760"/>
            <a:ext cx="2194560" cy="86868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47472" y="3867912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Incidentes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06040" y="388620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incidentes resolvidos: lentidão na triagem (S1) e 177 exames na fila de erro por incompatibilidade de integração (S4).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3B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Indicadores — Maio 2026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0" y="914400"/>
            <a:ext cx="457200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508760" cy="2011680"/>
          </a:xfrm>
          <a:prstGeom prst="rect">
            <a:avLst/>
          </a:prstGeom>
          <a:solidFill>
            <a:srgbClr val="0077B6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02920" y="22402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94560" y="1097280"/>
            <a:ext cx="1508760" cy="2011680"/>
          </a:xfrm>
          <a:prstGeom prst="rect">
            <a:avLst/>
          </a:prstGeom>
          <a:solidFill>
            <a:srgbClr val="00B4D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194560" y="123444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194560" y="22402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Máscaras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86200" y="1097280"/>
            <a:ext cx="1508760" cy="2011680"/>
          </a:xfrm>
          <a:prstGeom prst="rect">
            <a:avLst/>
          </a:prstGeom>
          <a:solidFill>
            <a:srgbClr val="2D9E5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886200" y="123444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886200" y="22402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Atendidos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77840" y="1097280"/>
            <a:ext cx="1508760" cy="2011680"/>
          </a:xfrm>
          <a:prstGeom prst="rect">
            <a:avLst/>
          </a:prstGeom>
          <a:solidFill>
            <a:srgbClr val="E63946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577840" y="123444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5577840" y="22402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Resolvidos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69480" y="1097280"/>
            <a:ext cx="1508760" cy="2011680"/>
          </a:xfrm>
          <a:prstGeom prst="rect">
            <a:avLst/>
          </a:prstGeom>
          <a:solidFill>
            <a:srgbClr val="D4A017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7269480" y="123444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7269480" y="22402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do Tempo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3749040"/>
            <a:ext cx="1645920" cy="36576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822960" y="3749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" y="4133088"/>
            <a:ext cx="1645920" cy="804672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822960" y="4160520"/>
            <a:ext cx="1645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 LIS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Cobas 6500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0" y="3749040"/>
            <a:ext cx="1645920" cy="365760"/>
          </a:xfrm>
          <a:prstGeom prst="rect">
            <a:avLst/>
          </a:prstGeom>
          <a:solidFill>
            <a:srgbClr val="2D9E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2743200" y="3749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0" y="4133088"/>
            <a:ext cx="1645920" cy="804672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2743200" y="4160520"/>
            <a:ext cx="1645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ABL-800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SRV-TS GPO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63440" y="3749040"/>
            <a:ext cx="1645920" cy="36576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4663440" y="3749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4133088"/>
            <a:ext cx="1645920" cy="804672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4663440" y="4160520"/>
            <a:ext cx="1645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SRV-TS02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583680" y="3749040"/>
            <a:ext cx="1645920" cy="365760"/>
          </a:xfrm>
          <a:prstGeom prst="rect">
            <a:avLst/>
          </a:prstGeom>
          <a:solidFill>
            <a:srgbClr val="7B2D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6583680" y="3749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83680" y="4133088"/>
            <a:ext cx="1645920" cy="804672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6583680" y="4160520"/>
            <a:ext cx="1645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Cobas Outros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 Exames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554480" y="3648456"/>
            <a:ext cx="59436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3B6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25603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B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Shift LIS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95528"/>
            <a:ext cx="850392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914400" cy="347472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" y="93268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Incidente — Lentidão na Triagem (09/05)  ·  38 min  ·  Causa: tabelas de seletividade desatualizadas  ·  ✅ Resolvido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901952"/>
            <a:ext cx="8503920" cy="150876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74320" y="1901952"/>
            <a:ext cx="8503920" cy="384048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65760" y="1920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S3 — Reconfiguração de Rotas de Amostras (18/05)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377440"/>
            <a:ext cx="118872" cy="118872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03504" y="23500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Cobas PRO II: rota composta (bioquímica + imunologia).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615184"/>
            <a:ext cx="118872" cy="118872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03504" y="258775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Cobas PRO I: rota individual — apenas bioquímica.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852928"/>
            <a:ext cx="118872" cy="118872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03504" y="282549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repetida habilitada via Cobas P-512 — trabalho manual eliminado.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090672"/>
            <a:ext cx="118872" cy="118872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03504" y="30632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testada, validada pela Shift e em uso.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547872"/>
            <a:ext cx="914400" cy="347472"/>
          </a:xfrm>
          <a:prstGeom prst="rect">
            <a:avLst/>
          </a:prstGeom>
          <a:solidFill>
            <a:srgbClr val="7B2D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274320" y="354787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25880" y="3474720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Cobas 6500 — Parâmetro 'Outros' configurado (27/05): permite identificar Trichomonas (resultado positivo = 6 anormalidades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possíveis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 ✅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1417320"/>
            <a:ext cx="914400" cy="347472"/>
          </a:xfrm>
          <a:prstGeom prst="rect">
            <a:avLst/>
          </a:prstGeom>
          <a:solidFill>
            <a:srgbClr val="2D9E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274320" y="141732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25880" y="143560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Reunião de Rota de Amostras (15/05) — alinhamento entre analista Shift, TI e coordenação do laboratório.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25603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B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Shift Integração  /  Automação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95528"/>
            <a:ext cx="850392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03920" cy="100584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8503920" cy="365760"/>
          </a:xfrm>
          <a:prstGeom prst="rect">
            <a:avLst/>
          </a:prstGeom>
          <a:solidFill>
            <a:srgbClr val="2D9E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65760" y="9326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Integração S2 — HEM+IPF — Conflito de Duplicidade (13/05)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33502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 relativo e absoluto não exibidos no laudo. Causa identificada e corrigida após testes.  ✅ Concluído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057400"/>
            <a:ext cx="8503920" cy="150876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74320" y="2057400"/>
            <a:ext cx="8503920" cy="384048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65760" y="20756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Integração S4 — 177 Exames na Fila de Erro (25/05)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523744"/>
            <a:ext cx="118872" cy="118872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03504" y="249631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alteração no usuário PATRICIA.0667 gerou incompatibilidade na integração entre sistemas.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798064"/>
            <a:ext cx="118872" cy="118872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03504" y="27706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 exames ficaram na fila de erro sem exportação correta para a Shift.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072384"/>
            <a:ext cx="118872" cy="118872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03504" y="30449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feita diretamente no banco de dados.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346704"/>
            <a:ext cx="118872" cy="118872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03504" y="33192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todos os 177 exames migraram com sucesso para o MV.  ✅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749040"/>
            <a:ext cx="4160520" cy="118872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274320" y="3749040"/>
            <a:ext cx="4160520" cy="36576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65760" y="376732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Automação S2 — ABL-800 (14/05)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16052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Gasômetro trocado com HCM.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Config: ABL 800-7 | Porta: 2110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 atualizada.  ✅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17720" y="3749040"/>
            <a:ext cx="4160520" cy="118872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4617720" y="3749040"/>
            <a:ext cx="4160520" cy="365760"/>
          </a:xfrm>
          <a:prstGeom prst="rect">
            <a:avLst/>
          </a:prstGeom>
          <a:solidFill>
            <a:srgbClr val="2D9E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709160" y="376732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Automação S2-S4 — Cobas 6500 (15/05→27/05)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9160" y="416052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 'Outros' configurado para urinálise (concluído em S4). Permite detecção de Trichomonas.  ✅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3B6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25603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B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Municípios — Maio 2026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95528"/>
            <a:ext cx="850392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82296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114800" cy="320040"/>
          </a:xfrm>
          <a:prstGeom prst="rect">
            <a:avLst/>
          </a:prstGeom>
          <a:solidFill>
            <a:srgbClr val="2D9E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65760" y="9784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 Bálsamo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17520" y="9784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→ S2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3075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Sistemas: Shift + Impressora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508760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de termos enviado (S1). Instalação física do sistema Shift e impressora de etiquetas concluída (S2).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114800" cy="82296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114800" cy="320040"/>
          </a:xfrm>
          <a:prstGeom prst="rect">
            <a:avLst/>
          </a:prstGeom>
          <a:solidFill>
            <a:srgbClr val="2D9E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754880" y="9784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 Paulo de Faria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06640" y="9784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→ S3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0" y="13075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Sistemas: Shift + SoulMV + VPN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0" y="1508760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Termos corrigidos e recebidos. Instalação completa concluída (S3 — 21/05).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1965960"/>
            <a:ext cx="4114800" cy="82296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274320" y="1965960"/>
            <a:ext cx="4114800" cy="320040"/>
          </a:xfrm>
          <a:prstGeom prst="rect">
            <a:avLst/>
          </a:prstGeom>
          <a:solidFill>
            <a:srgbClr val="2D9E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65760" y="1984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 Mendonça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17520" y="19842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→ S3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23134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Sistemas: Shift + SoulMV + VPN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2514600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Termos recebidos. Instalação concluída (S3). Usuários pendentes de liberação jurídica.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1965960"/>
            <a:ext cx="4114800" cy="82296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4663440" y="1965960"/>
            <a:ext cx="4114800" cy="320040"/>
          </a:xfrm>
          <a:prstGeom prst="rect">
            <a:avLst/>
          </a:prstGeom>
          <a:solidFill>
            <a:srgbClr val="2D9E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754880" y="1984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 Adolfo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406640" y="19842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→ S3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23134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Sistemas: Shift + SoulMV + VPN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2514600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Termos recebidos, usuários Shift criados. Instalação completa concluída (S3 — 21/05).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2985516"/>
            <a:ext cx="4114800" cy="82296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274320" y="2985516"/>
            <a:ext cx="4114800" cy="320040"/>
          </a:xfrm>
          <a:prstGeom prst="rect">
            <a:avLst/>
          </a:prstGeom>
          <a:solidFill>
            <a:srgbClr val="2D9E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365760" y="30038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 Mirassol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017520" y="30038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33512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Sistemas: Shift + SoulMV + VPN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356158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VPN criados. Postos Ruilândia e PROSAD operacionais.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4645152"/>
            <a:ext cx="8503920" cy="347472"/>
          </a:xfrm>
          <a:prstGeom prst="rect">
            <a:avLst/>
          </a:prstGeom>
          <a:solidFill>
            <a:srgbClr val="003B6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365760" y="46634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municípios atendidos em maio — Shift, SoulMV e VPN implantados com sucesso.</a:t>
            </a:r>
            <a:endParaRPr lang="en-US" sz="1000" dirty="0"/>
          </a:p>
        </p:txBody>
      </p:sp>
      <p:sp>
        <p:nvSpPr>
          <p:cNvPr id="37" name="Shape 27">
            <a:extLst>
              <a:ext uri="{FF2B5EF4-FFF2-40B4-BE49-F238E27FC236}">
                <a16:creationId xmlns:a16="http://schemas.microsoft.com/office/drawing/2014/main" id="{A063D40E-C2EF-9602-20F6-2ED71DEC9B09}"/>
              </a:ext>
            </a:extLst>
          </p:cNvPr>
          <p:cNvSpPr/>
          <p:nvPr/>
        </p:nvSpPr>
        <p:spPr>
          <a:xfrm>
            <a:off x="4663440" y="2985516"/>
            <a:ext cx="4114800" cy="82296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8" name="Shape 28">
            <a:extLst>
              <a:ext uri="{FF2B5EF4-FFF2-40B4-BE49-F238E27FC236}">
                <a16:creationId xmlns:a16="http://schemas.microsoft.com/office/drawing/2014/main" id="{78A0A81D-9B38-0CD2-4EA4-5B43E92E6E94}"/>
              </a:ext>
            </a:extLst>
          </p:cNvPr>
          <p:cNvSpPr/>
          <p:nvPr/>
        </p:nvSpPr>
        <p:spPr>
          <a:xfrm>
            <a:off x="4663440" y="2985516"/>
            <a:ext cx="4114800" cy="320040"/>
          </a:xfrm>
          <a:prstGeom prst="rect">
            <a:avLst/>
          </a:prstGeom>
          <a:solidFill>
            <a:srgbClr val="2D9E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29">
            <a:extLst>
              <a:ext uri="{FF2B5EF4-FFF2-40B4-BE49-F238E27FC236}">
                <a16:creationId xmlns:a16="http://schemas.microsoft.com/office/drawing/2014/main" id="{8F72971E-3535-96BE-2332-DCBB9AA2AA35}"/>
              </a:ext>
            </a:extLst>
          </p:cNvPr>
          <p:cNvSpPr/>
          <p:nvPr/>
        </p:nvSpPr>
        <p:spPr>
          <a:xfrm>
            <a:off x="4754880" y="30038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 </a:t>
            </a:r>
            <a:r>
              <a:rPr lang="en-US" sz="10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Ubarana</a:t>
            </a:r>
            <a:endParaRPr lang="en-US" sz="1050" dirty="0"/>
          </a:p>
        </p:txBody>
      </p:sp>
      <p:sp>
        <p:nvSpPr>
          <p:cNvPr id="40" name="Text 30">
            <a:extLst>
              <a:ext uri="{FF2B5EF4-FFF2-40B4-BE49-F238E27FC236}">
                <a16:creationId xmlns:a16="http://schemas.microsoft.com/office/drawing/2014/main" id="{4FC920FE-B7C0-07A3-3CEE-FF53C15EACBE}"/>
              </a:ext>
            </a:extLst>
          </p:cNvPr>
          <p:cNvSpPr/>
          <p:nvPr/>
        </p:nvSpPr>
        <p:spPr>
          <a:xfrm>
            <a:off x="7406640" y="30038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→ S4</a:t>
            </a:r>
            <a:endParaRPr lang="en-US" sz="900" dirty="0"/>
          </a:p>
        </p:txBody>
      </p:sp>
      <p:sp>
        <p:nvSpPr>
          <p:cNvPr id="41" name="Text 31">
            <a:extLst>
              <a:ext uri="{FF2B5EF4-FFF2-40B4-BE49-F238E27FC236}">
                <a16:creationId xmlns:a16="http://schemas.microsoft.com/office/drawing/2014/main" id="{E8FB77D2-5E78-94B2-9AB4-918B6B907243}"/>
              </a:ext>
            </a:extLst>
          </p:cNvPr>
          <p:cNvSpPr/>
          <p:nvPr/>
        </p:nvSpPr>
        <p:spPr>
          <a:xfrm>
            <a:off x="4754880" y="33512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Sistemas: Shift + SoulMV + VPN</a:t>
            </a:r>
            <a:endParaRPr lang="en-US" sz="900" dirty="0"/>
          </a:p>
        </p:txBody>
      </p:sp>
      <p:sp>
        <p:nvSpPr>
          <p:cNvPr id="42" name="Text 32">
            <a:extLst>
              <a:ext uri="{FF2B5EF4-FFF2-40B4-BE49-F238E27FC236}">
                <a16:creationId xmlns:a16="http://schemas.microsoft.com/office/drawing/2014/main" id="{9B0D3B50-24A8-4162-5230-341C25DFD6F4}"/>
              </a:ext>
            </a:extLst>
          </p:cNvPr>
          <p:cNvSpPr/>
          <p:nvPr/>
        </p:nvSpPr>
        <p:spPr>
          <a:xfrm>
            <a:off x="4754880" y="356158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</a:t>
            </a:r>
            <a:r>
              <a:rPr lang="en-US" sz="8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</a:t>
            </a: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criados</a:t>
            </a: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8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</a:t>
            </a: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completa </a:t>
            </a:r>
            <a:r>
              <a:rPr lang="en-US" sz="8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</a:t>
            </a: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(S3)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25603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B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Redes / Servidores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95528"/>
            <a:ext cx="850392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03920" cy="804672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22960" cy="804672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74320" y="11247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07008" y="101498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SRV-SHIFTAUTOMA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07008" y="134416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de backup semanal automático das imagens dos Cobas 6500 I e II. Libera espaço em disco e organiza arquivos de forma consistente.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856232"/>
            <a:ext cx="8503920" cy="804672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74320" y="1856232"/>
            <a:ext cx="822960" cy="804672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74320" y="202082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07008" y="1911096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SRV-TS — Script de Estatísticas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07008" y="224028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e armazena estatísticas de uso por usuário a cada 1 hora. Base para análise de capacidade.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752344"/>
            <a:ext cx="8503920" cy="804672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274320" y="2752344"/>
            <a:ext cx="822960" cy="804672"/>
          </a:xfrm>
          <a:prstGeom prst="rect">
            <a:avLst/>
          </a:prstGeom>
          <a:solidFill>
            <a:srgbClr val="2D9E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274320" y="29169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07008" y="280720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SRV-TS — Política de Grupo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07008" y="313639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Sessões ociosas encerradas automaticamente após 30 minutos. Resultado: uso médio de 82% → 48%, picos de 59%.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648456"/>
            <a:ext cx="8503920" cy="804672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274320" y="3648456"/>
            <a:ext cx="822960" cy="804672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274320" y="38130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07008" y="370332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SRV-TS02 — Servidor em Nuvem (22/05)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07008" y="4032504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servidor para acesso remoto ao MV pelos municípios. IP: 10.10.10.125 (TS02) | 10.10.10.124 (TS). Pronto para uso.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25603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B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SRV-TS — Impacto  /  Equipamentos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95528"/>
            <a:ext cx="850392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965960" cy="1417320"/>
          </a:xfrm>
          <a:prstGeom prst="rect">
            <a:avLst/>
          </a:prstGeom>
          <a:solidFill>
            <a:srgbClr val="E63946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1965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82%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960120"/>
            <a:ext cx="1965960" cy="1417320"/>
          </a:xfrm>
          <a:prstGeom prst="rect">
            <a:avLst/>
          </a:prstGeom>
          <a:solidFill>
            <a:srgbClr val="2D9E5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423160" y="1024128"/>
            <a:ext cx="1965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423160" y="17830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960120"/>
            <a:ext cx="1965960" cy="1417320"/>
          </a:xfrm>
          <a:prstGeom prst="rect">
            <a:avLst/>
          </a:prstGeom>
          <a:solidFill>
            <a:srgbClr val="0077B6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572000" y="1024128"/>
            <a:ext cx="1965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59%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72000" y="17830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20840" y="960120"/>
            <a:ext cx="1965960" cy="1417320"/>
          </a:xfrm>
          <a:prstGeom prst="rect">
            <a:avLst/>
          </a:prstGeom>
          <a:solidFill>
            <a:srgbClr val="003B6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720840" y="1024128"/>
            <a:ext cx="1965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-41%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720840" y="17830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560320"/>
            <a:ext cx="8503920" cy="320040"/>
          </a:xfrm>
          <a:prstGeom prst="rect">
            <a:avLst/>
          </a:prstGeom>
          <a:solidFill>
            <a:srgbClr val="003B6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65760" y="2578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Equipamentos / Dispositivos e Laboratoriais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8503920" cy="804672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274320" y="2971800"/>
            <a:ext cx="822960" cy="804672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274320" y="313639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07008" y="302666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Cobas 6500 I e II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07008" y="335584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de software concluída. Pastas de microscopias reorganizadas por equipamento.  ✅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867912"/>
            <a:ext cx="8503920" cy="804672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274320" y="3867912"/>
            <a:ext cx="822960" cy="804672"/>
          </a:xfrm>
          <a:prstGeom prst="rect">
            <a:avLst/>
          </a:prstGeom>
          <a:solidFill>
            <a:srgbClr val="2D9E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274320" y="40325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07008" y="3922776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 — Microbiologia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07008" y="42519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Substituição do computador no setor de microbiologia concluída com sucesso em 15/05.  ✅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3B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3767328"/>
            <a:ext cx="9144000" cy="16459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3749040" y="502920"/>
            <a:ext cx="1645920" cy="566928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749040" y="50292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Shift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Maio de 2026 encerrado.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0848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volume de entregas. Sistemas estáveis. Municípios integrados.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353312" y="2798064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85800" y="294436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tarefas concluídas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62072" y="2795451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194560" y="294436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máscaras criadas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370832" y="2795451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703320" y="294436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municípios atendidos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879592" y="2802636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212080" y="294436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incidentes resolvidos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88352" y="2795451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720840" y="294436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scripts / servidores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0" y="4069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Santana - FUNFARME  ·  Maio /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871</Words>
  <Application>Microsoft Office PowerPoint</Application>
  <PresentationFormat>On-screen Show (16:9)</PresentationFormat>
  <Paragraphs>153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Relatório Mensal TI FUNFARME Maio 2026</dc:title>
  <dc:subject>PptxGenJS Presentation</dc:subject>
  <dc:creator>PptxGenJS</dc:creator>
  <cp:lastModifiedBy>PEDRO HENRIQUE FERREIRA SANTANA</cp:lastModifiedBy>
  <cp:revision>3</cp:revision>
  <dcterms:created xsi:type="dcterms:W3CDTF">2026-05-27T12:27:08Z</dcterms:created>
  <dcterms:modified xsi:type="dcterms:W3CDTF">2026-05-29T11:26:43Z</dcterms:modified>
</cp:coreProperties>
</file>